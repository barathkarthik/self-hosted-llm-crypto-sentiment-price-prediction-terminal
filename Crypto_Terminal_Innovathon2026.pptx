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54864"/>
            <a:ext cx="4142232" cy="6803136"/>
          </a:xfrm>
          <a:prstGeom prst="rect">
            <a:avLst/>
          </a:prstGeom>
          <a:solidFill>
            <a:srgbClr val="070B14"/>
          </a:solidFill>
          <a:ln w="6350"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54864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188720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2322576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3456432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4590288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5724144"/>
            <a:ext cx="4142232" cy="18288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572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  <a:latin typeface="JetBrains Mono"/>
              </a:rPr>
              <a:t>$ crypto-terminal --start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0515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6FC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JetBrains Mono"/>
              </a:rPr>
              <a:t>[Ollama]  Mistral 7B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2402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8A6FF"/>
                </a:solidFill>
                <a:latin typeface="JetBrains Mono"/>
              </a:rPr>
              <a:t>[XGBoost] Models loaded (5 coins)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FB950"/>
                </a:solidFill>
                <a:latin typeface="JetBrains Mono"/>
              </a:rPr>
              <a:t>[Pipeline] LIVE — 44,185 candles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4290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3B341"/>
                </a:solidFill>
                <a:latin typeface="JetBrains Mono"/>
              </a:rPr>
              <a:t>[Signal]  BTC  HOLD  conf=0.62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3B341"/>
                </a:solidFill>
                <a:latin typeface="JetBrains Mono"/>
              </a:rPr>
              <a:t>[Signal]  ETH  HOLD  conf=0.58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17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  <a:latin typeface="JetBrains Mono"/>
              </a:rPr>
              <a:t>[Whale]   0.01 BTC whale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2120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6FC"/>
                </a:solidFill>
                <a:latin typeface="JetBrains Mono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8064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Dashboard  →  localhost:8501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4320"/>
            <a:ext cx="1815084" cy="25603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10896"/>
            <a:ext cx="16870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NMIMS INNOVATHON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74320"/>
            <a:ext cx="1426464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310896"/>
            <a:ext cx="12984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CHALLENGE 2 OF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0058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0F6FC"/>
                </a:solidFill>
                <a:latin typeface="Calibri"/>
              </a:rPr>
              <a:t>CRYPTO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83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8A6FF"/>
                </a:solidFill>
                <a:latin typeface="Calibri"/>
              </a:rPr>
              <a:t>INTELLIGENCE 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JetBrains Mono"/>
              </a:rPr>
              <a:t>Self-Hosted LLM · Price Prediction · On-Chain Analytics · Signal 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1645920" cy="822960"/>
          </a:xfrm>
          <a:prstGeom prst="rect">
            <a:avLst/>
          </a:prstGeom>
          <a:solidFill>
            <a:srgbClr val="070B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03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FB950"/>
                </a:solidFill>
                <a:latin typeface="Calibri"/>
              </a:rPr>
              <a:t>44K+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  <a:latin typeface="JetBrains Mono"/>
              </a:rPr>
              <a:t>Price Candles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657600"/>
            <a:ext cx="1645920" cy="822960"/>
          </a:xfrm>
          <a:prstGeom prst="rect">
            <a:avLst/>
          </a:prstGeom>
          <a:solidFill>
            <a:srgbClr val="070B14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3703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  <a:latin typeface="JetBrains Mono"/>
              </a:rPr>
              <a:t>Coins Tracked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657600"/>
            <a:ext cx="1645920" cy="822960"/>
          </a:xfrm>
          <a:prstGeom prst="rect">
            <a:avLst/>
          </a:prstGeom>
          <a:solidFill>
            <a:srgbClr val="070B14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3703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3B341"/>
                </a:solidFill>
                <a:latin typeface="Calibri"/>
              </a:rPr>
              <a:t>5,577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  <a:latin typeface="JetBrains Mono"/>
              </a:rPr>
              <a:t>Signals Generated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657600"/>
            <a:ext cx="1645920" cy="822960"/>
          </a:xfrm>
          <a:prstGeom prst="rect">
            <a:avLst/>
          </a:prstGeom>
          <a:solidFill>
            <a:srgbClr val="070B1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37033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78BFA"/>
                </a:solidFill>
                <a:latin typeface="Calibri"/>
              </a:rPr>
              <a:t>₹0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B949E"/>
                </a:solidFill>
                <a:latin typeface="JetBrains Mono"/>
              </a:rPr>
              <a:t>Total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84F58"/>
                </a:solidFill>
                <a:latin typeface="JetBrains Mono"/>
              </a:rPr>
              <a:t>AI &amp; Data Intelligence Track  ·  HIGH Difficulty  ·  24-Hour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037844" cy="25603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9098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6FC"/>
                </a:solidFill>
                <a:latin typeface="Calibri"/>
              </a:rPr>
              <a:t>Retail traders have no affordable intelligence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070B14"/>
          </a:solidFill>
          <a:ln w="1016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  <a:latin typeface="JetBrains Mono"/>
              </a:rPr>
              <a:t>₹5L/month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JetBrains Mono"/>
              </a:rPr>
              <a:t>Santiment costs ₹5 lakh per month — inaccessible to retail traders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1005840"/>
          </a:xfrm>
          <a:prstGeom prst="rect">
            <a:avLst/>
          </a:prstGeom>
          <a:solidFill>
            <a:srgbClr val="070B14"/>
          </a:solidFill>
          <a:ln w="1016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  <a:latin typeface="JetBrains Mono"/>
              </a:rPr>
              <a:t>Manual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JetBrains Mono"/>
              </a:rPr>
              <a:t>Traders spend hours reading Reddit, Telegram, news manually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solidFill>
            <a:srgbClr val="070B14"/>
          </a:solidFill>
          <a:ln w="1016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  <a:latin typeface="JetBrains Mono"/>
              </a:rPr>
              <a:t>No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JetBrains Mono"/>
              </a:rPr>
              <a:t>Existing bots use technical indicators only — ignore sentiment &amp; on-chain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070B14"/>
          </a:solidFill>
          <a:ln w="1016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10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  <a:latin typeface="JetBrains Mono"/>
              </a:rPr>
              <a:t>No local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JetBrains Mono"/>
              </a:rPr>
              <a:t>Cloud APIs are expensive and leak sensitive trading strategies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84F58"/>
                </a:solidFill>
                <a:latin typeface="JetBrains Mono"/>
              </a:rPr>
              <a:t>Professional platforms: Santiment ₹5L/mo · LumiBot ₹2L/mo · CryptoQuant ₹1.5L/mo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115568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9875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A fully self-hosted crypto intelligence terminal at ₹0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3200400"/>
          </a:xfrm>
          <a:prstGeom prst="rect">
            <a:avLst/>
          </a:prstGeom>
          <a:solidFill>
            <a:srgbClr val="070B14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JetBrains Mono"/>
              </a:rPr>
              <a:t>LLM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Mistral 7B via Ollama
FinBERT fallback
BULLISH / BEARISH / NEUTRAL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371600"/>
            <a:ext cx="2743200" cy="3200400"/>
          </a:xfrm>
          <a:prstGeom prst="rect">
            <a:avLst/>
          </a:prstGeom>
          <a:solidFill>
            <a:srgbClr val="070B14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371600"/>
            <a:ext cx="2743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JetBrains Mono"/>
              </a:rPr>
              <a:t>Price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Facebook Prophet
XGBoost (27 features)
1h, 4h, 24h horizons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371600"/>
            <a:ext cx="2743200" cy="3200400"/>
          </a:xfrm>
          <a:prstGeom prst="rect">
            <a:avLst/>
          </a:prstGeom>
          <a:solidFill>
            <a:srgbClr val="070B14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371600"/>
            <a:ext cx="2743200" cy="7315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  <a:latin typeface="JetBrains Mono"/>
              </a:rPr>
              <a:t>On-Chain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Whale Alert API
20+ chains tracked
Accumulation vs Distribution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371600"/>
            <a:ext cx="2743200" cy="3200400"/>
          </a:xfrm>
          <a:prstGeom prst="rect">
            <a:avLst/>
          </a:prstGeom>
          <a:solidFill>
            <a:srgbClr val="070B14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98864" y="1371600"/>
            <a:ext cx="274320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JetBrains Mono"/>
              </a:rPr>
              <a:t>Signal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0116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3-factor rule engine
BUY / SELL / HOLD
Confidence + 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FB950"/>
                </a:solidFill>
                <a:latin typeface="JetBrains Mono"/>
              </a:rPr>
              <a:t>Total infrastructure cost: ₹0  ·  Runs on 8GB RAM  ·  No cloud APIs required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JetBrains Mono"/>
              </a:rPr>
              <a:t>Santiment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5149"/>
                </a:solidFill>
                <a:latin typeface="Calibri"/>
              </a:rPr>
              <a:t>₹5L/mo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JetBrains Mono"/>
              </a:rPr>
              <a:t>LumiBot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5149"/>
                </a:solidFill>
                <a:latin typeface="Calibri"/>
              </a:rPr>
              <a:t>₹2L/mo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JetBrains Mono"/>
              </a:rPr>
              <a:t>Our Terminal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669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FB950"/>
                </a:solidFill>
                <a:latin typeface="Calibri"/>
              </a:rPr>
              <a:t>₹0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115568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9875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6FC"/>
                </a:solidFill>
                <a:latin typeface="Calibri"/>
              </a:rPr>
              <a:t>End-to-end pipeline: Data → Intelligence → Signal →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070B14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  <a:latin typeface="JetBrains Mono"/>
              </a:rP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Telegram Channels  ·  NewsAPI  ·  Whale Alert API  ·  Binance REST (15-min OHLCV)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57400"/>
            <a:ext cx="45720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1247120" cy="868680"/>
          </a:xfrm>
          <a:prstGeom prst="rect">
            <a:avLst/>
          </a:prstGeom>
          <a:solidFill>
            <a:srgbClr val="070B14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73152" cy="8686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58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3B341"/>
                </a:solidFill>
                <a:latin typeface="JetBrains Mono"/>
              </a:rPr>
              <a:t>INGESTION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Async collectors  ·  Exponential backoff retry  ·  SQLAlchemy ORM  ·  SQLite (7 tables)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063240"/>
            <a:ext cx="457200" cy="13716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070B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73152" cy="868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64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  <a:latin typeface="JetBrains Mono"/>
              </a:rPr>
              <a:t>INTELLIGENCE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Ollama Mistral 7B sentiment  ·  Prophet time-series  ·  XGBoost (27 features)  ·  FinBERT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069080"/>
            <a:ext cx="457200" cy="1371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11247120" cy="868680"/>
          </a:xfrm>
          <a:prstGeom prst="rect">
            <a:avLst/>
          </a:prstGeom>
          <a:solidFill>
            <a:srgbClr val="070B1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73152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70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78BFA"/>
                </a:solidFill>
                <a:latin typeface="JetBrains Mono"/>
              </a:rPr>
              <a:t>SIGNAL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3-factor rule: Sentiment + ML Prediction + Whale Flow  →  BUY / SELL / HOLD + confidence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5074920"/>
            <a:ext cx="457200" cy="1371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070B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73152" cy="8686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276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85149"/>
                </a:solidFill>
                <a:latin typeface="JetBrains Mono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Streamlit dashboard (6 tabs)  ·  Backtesting engine  ·  Paper trading simulator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581912" cy="25603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14538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Self-hosted LLM — Mistral 7B via Ollama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29200" cy="1051560"/>
          </a:xfrm>
          <a:prstGeom prst="rect">
            <a:avLst/>
          </a:prstGeom>
          <a:solidFill>
            <a:srgbClr val="070B14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JetBrains Mono"/>
              </a:rPr>
              <a:t>1.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Telegram channels + NewsAPI
Real-time crypto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5029200" cy="1051560"/>
          </a:xfrm>
          <a:prstGeom prst="rect">
            <a:avLst/>
          </a:prstGeom>
          <a:solidFill>
            <a:srgbClr val="070B14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  <a:latin typeface="JetBrains Mono"/>
              </a:rPr>
              <a:t>2. 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Mistral 7B prompt:
BULLISH / BEARISH / NEUTRAL
Score: 0.0 – 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029200" cy="1051560"/>
          </a:xfrm>
          <a:prstGeom prst="rect">
            <a:avLst/>
          </a:prstGeom>
          <a:solidFill>
            <a:srgbClr val="070B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JetBrains Mono"/>
              </a:rPr>
              <a:t>3.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FinBERT (CPU-based)
Activates if Ollama unavailable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83480"/>
            <a:ext cx="5029200" cy="1051560"/>
          </a:xfrm>
          <a:prstGeom prst="rect">
            <a:avLst/>
          </a:prstGeom>
          <a:solidFill>
            <a:srgbClr val="070B1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JetBrains Mono"/>
              </a:rPr>
              <a:t>4. Aggregate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40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Rolling avg per coin
Fear &amp; Greed Index overlay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280160"/>
            <a:ext cx="5943600" cy="3749039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84F58"/>
                </a:solidFill>
                <a:latin typeface="JetBrains Mono"/>
              </a:rPr>
              <a:t>SIGNAL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JetBrains Mono"/>
              </a:rPr>
              <a:t>&gt; 0.70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JetBrains Mono"/>
              </a:rPr>
              <a:t>BULLISH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176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Strong buy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  <a:latin typeface="JetBrains Mono"/>
              </a:rPr>
              <a:t>0.30–0.70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B341"/>
                </a:solidFill>
                <a:latin typeface="JetBrains Mono"/>
              </a:rPr>
              <a:t>NEUTRAL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090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No directional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JetBrains Mono"/>
              </a:rPr>
              <a:t>&lt; 0.30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JetBrains Mono"/>
              </a:rPr>
              <a:t>BEARISH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Strong sell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663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85149"/>
                </a:solidFill>
                <a:latin typeface="JetBrains Mono"/>
              </a:rPr>
              <a:t>Live reading: 0.12 — EXTREME FEAR (Fear &amp; Greed: 12/100)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029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2,333 sentiment snapshots collected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426464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12984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PRICE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Prophet + XGBoost — 27 engineered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84F58"/>
                </a:solidFill>
                <a:latin typeface="JetBrains Mono"/>
              </a:rPr>
              <a:t>XGBoost Directional Accuracy (test set)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6400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  <a:latin typeface="JetBrains Mono"/>
              </a:rPr>
              <a:t>BTC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892808"/>
            <a:ext cx="852586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84708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8A6FF"/>
                </a:solidFill>
                <a:latin typeface="JetBrains Mono"/>
              </a:rPr>
              <a:t>61.1%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5577840" cy="6400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  <a:latin typeface="JetBrains Mono"/>
              </a:rPr>
              <a:t>ETH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642616"/>
            <a:ext cx="460857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596896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8A6FF"/>
                </a:solidFill>
                <a:latin typeface="JetBrains Mono"/>
              </a:rPr>
              <a:t>56.0%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91256"/>
            <a:ext cx="5577840" cy="6400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  <a:latin typeface="JetBrains Mono"/>
              </a:rPr>
              <a:t>SOL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392424"/>
            <a:ext cx="1328806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3346704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FB950"/>
                </a:solidFill>
                <a:latin typeface="JetBrains Mono"/>
              </a:rPr>
              <a:t>67.3%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41064"/>
            <a:ext cx="5577840" cy="6400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965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  <a:latin typeface="JetBrains Mono"/>
              </a:rPr>
              <a:t>XRP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142232"/>
            <a:ext cx="1152144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409651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FB950"/>
                </a:solidFill>
                <a:latin typeface="JetBrains Mono"/>
              </a:rPr>
              <a:t>65.0%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90872"/>
            <a:ext cx="5577840" cy="6400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F6FC"/>
                </a:solidFill>
                <a:latin typeface="JetBrains Mono"/>
              </a:rPr>
              <a:t>DOGE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892040"/>
            <a:ext cx="875629" cy="2560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84632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8A6FF"/>
                </a:solidFill>
                <a:latin typeface="JetBrains Mono"/>
              </a:rPr>
              <a:t>61.4%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3B341"/>
                </a:solidFill>
                <a:latin typeface="JetBrains Mono"/>
              </a:rPr>
              <a:t>▲ 55%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1234440"/>
            <a:ext cx="5303520" cy="484632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84F58"/>
                </a:solidFill>
                <a:latin typeface="JetBrains Mono"/>
              </a:rPr>
              <a:t>FEATURE GROUPS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A6FF"/>
                </a:solidFill>
                <a:latin typeface="JetBrains Mono"/>
              </a:rPr>
              <a:t>Technical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1828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58A6FF"/>
                </a:solidFill>
                <a:latin typeface="JetBrains Mono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94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  <a:latin typeface="JetBrains Mono"/>
              </a:rPr>
              <a:t>SMA, EMA, MACD, RSI, Bollinger Bands,
ATR, volume ratio, returns, 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FB950"/>
                </a:solidFill>
                <a:latin typeface="JetBrains Mono"/>
              </a:rPr>
              <a:t>Sentiment Signals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200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3FB950"/>
                </a:solidFill>
                <a:latin typeface="JetBrains Mon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66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  <a:latin typeface="JetBrains Mono"/>
              </a:rPr>
              <a:t>sentiment_avg, sentiment_momentum,
sentiment_volume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3B341"/>
                </a:solidFill>
                <a:latin typeface="JetBrains Mono"/>
              </a:rPr>
              <a:t>On-Chain / Whale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45720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3B341"/>
                </a:solidFill>
                <a:latin typeface="JetBrains Mono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37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949E"/>
                </a:solidFill>
                <a:latin typeface="JetBrains Mono"/>
              </a:rPr>
              <a:t>whale_net_flow, whale_tx_count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577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JetBrains Mono"/>
              </a:rPr>
              <a:t>Total: 27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193292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10652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SIGNAL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Three independent factors — two must agree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468880" cy="2286000"/>
          </a:xfrm>
          <a:prstGeom prst="rect">
            <a:avLst/>
          </a:prstGeom>
          <a:solidFill>
            <a:srgbClr val="070B14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  <a:latin typeface="JetBrains Mono"/>
              </a:rPr>
              <a:t>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Mistral 7B score
&gt; 0.70 = Bullish
&lt; 0.30 = Bearish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468880" cy="2286000"/>
          </a:xfrm>
          <a:prstGeom prst="rect">
            <a:avLst/>
          </a:prstGeom>
          <a:solidFill>
            <a:srgbClr val="070B14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  <a:latin typeface="JetBrains Mono"/>
              </a:rPr>
              <a:t>ML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XGBoost / Prophet
UP / DOWN / SIDEWAYS
+ Confidence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468880" cy="2286000"/>
          </a:xfrm>
          <a:prstGeom prst="rect">
            <a:avLst/>
          </a:prstGeom>
          <a:solidFill>
            <a:srgbClr val="070B14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B341"/>
                </a:solidFill>
                <a:latin typeface="JetBrains Mono"/>
              </a:rPr>
              <a:t>WHALE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Whale Alert API
Accumulation vs
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057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84F58"/>
                </a:solidFill>
                <a:latin typeface="Calibri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057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84F58"/>
                </a:solidFill>
                <a:latin typeface="Calibr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03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84F58"/>
                </a:solidFill>
                <a:latin typeface="JetBrains Mono"/>
              </a:rPr>
              <a:t>▼  2 of 3 factors must align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47120" cy="658368"/>
          </a:xfrm>
          <a:prstGeom prst="rect">
            <a:avLst/>
          </a:prstGeom>
          <a:solidFill>
            <a:srgbClr val="070B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73152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61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FB950"/>
                </a:solidFill>
                <a:latin typeface="JetBrains Mono"/>
              </a:rPr>
              <a:t>BUY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6168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Sentiment &gt; 0.70  AND  Prediction = UP  AND  Whales accumulating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79"/>
            <a:ext cx="11247120" cy="658368"/>
          </a:xfrm>
          <a:prstGeom prst="rect">
            <a:avLst/>
          </a:prstGeom>
          <a:solidFill>
            <a:srgbClr val="070B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83479"/>
            <a:ext cx="73152" cy="6583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5149"/>
                </a:solidFill>
                <a:latin typeface="JetBrains Mono"/>
              </a:rPr>
              <a:t>SELL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38927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Sentiment &lt; 0.30  AND  Prediction = DOWN  AND  Whales distributing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47120" cy="658368"/>
          </a:xfrm>
          <a:prstGeom prst="rect">
            <a:avLst/>
          </a:prstGeom>
          <a:solidFill>
            <a:srgbClr val="070B14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760720"/>
            <a:ext cx="73152" cy="65836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916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  <a:latin typeface="JetBrains Mono"/>
              </a:rPr>
              <a:t>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916168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Any other combination — no strong consensus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037844" cy="25603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9098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BACKTESTING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Realistic signal replay with cost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303520" cy="20116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84F58"/>
                </a:solidFill>
                <a:latin typeface="JetBrains Mono"/>
              </a:rPr>
              <a:t>SIMULATION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Slippage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F6FC"/>
                </a:solidFill>
                <a:latin typeface="JetBrains Mono"/>
              </a:rPr>
              <a:t>0.1% per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48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F6FC"/>
                </a:solidFill>
                <a:latin typeface="JetBrains Mono"/>
              </a:rPr>
              <a:t>0.1% per trade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Position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603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F6FC"/>
                </a:solidFill>
                <a:latin typeface="JetBrains Mono"/>
              </a:rPr>
              <a:t>Confidence-weighted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Data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71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0F6FC"/>
                </a:solidFill>
                <a:latin typeface="JetBrains Mono"/>
              </a:rPr>
              <a:t>90 days OHLCV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5577840" cy="201168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84F58"/>
                </a:solidFill>
                <a:latin typeface="JetBrains Mono"/>
              </a:rPr>
              <a:t>METRICS COMPUTED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Total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737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Sharpe Ratio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Sortino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Max Drawdown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JetBrains Mono"/>
              </a:rPr>
              <a:t>• Win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29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84F58"/>
                </a:solidFill>
                <a:latin typeface="JetBrains Mono"/>
              </a:rPr>
              <a:t>HOW IT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2651760" cy="1828800"/>
          </a:xfrm>
          <a:prstGeom prst="rect">
            <a:avLst/>
          </a:prstGeom>
          <a:solidFill>
            <a:srgbClr val="070B14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  <a:latin typeface="JetBrains Mono"/>
              </a:rPr>
              <a:t>Load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Query historical BUY/SELL
signals from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794760"/>
            <a:ext cx="2651760" cy="1828800"/>
          </a:xfrm>
          <a:prstGeom prst="rect">
            <a:avLst/>
          </a:prstGeom>
          <a:solidFill>
            <a:srgbClr val="070B14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JetBrains Mono"/>
              </a:rPr>
              <a:t>Replay Prices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Match each signal to
OHLCV price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94760"/>
            <a:ext cx="2651760" cy="1828800"/>
          </a:xfrm>
          <a:prstGeom prst="rect">
            <a:avLst/>
          </a:prstGeom>
          <a:solidFill>
            <a:srgbClr val="070B14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JetBrains Mono"/>
              </a:rPr>
              <a:t>Simulate Fill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Apply slippage +
commission at entry/exit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3794760"/>
            <a:ext cx="2651760" cy="1828800"/>
          </a:xfrm>
          <a:prstGeom prst="rect">
            <a:avLst/>
          </a:prstGeom>
          <a:solidFill>
            <a:srgbClr val="070B14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886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JetBrains Mono"/>
              </a:rPr>
              <a:t>Compute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Sharpe, Sortino,
drawdown, CAGR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882396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7543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F6FC"/>
                </a:solidFill>
                <a:latin typeface="Calibri"/>
              </a:rPr>
              <a:t>6-tab Streamlit terminal — live at localhost:8501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A6FF"/>
                </a:solidFill>
                <a:latin typeface="JetBrains Mono"/>
              </a:rPr>
              <a:t>01  Market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6596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Candlestick charts, OHLCV, RSI,
Market Regime panel, signal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640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5087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B341"/>
                </a:solidFill>
                <a:latin typeface="JetBrains Mono"/>
              </a:rPr>
              <a:t>02  Sentiment Intel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196596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Heatmap, trend chart, Fear &amp; Greed,
Recent news with LLM scores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65760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50876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FB950"/>
                </a:solidFill>
                <a:latin typeface="JetBrains Mono"/>
              </a:rPr>
              <a:t>03  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96596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ML Intelligence panel, Prophet &amp;
XGBoost confidence, signal 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7472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3657600" cy="6400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61187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85149"/>
                </a:solidFill>
                <a:latin typeface="JetBrains Mono"/>
              </a:rPr>
              <a:t>04  Whale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06908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Live whale transactions,
Accumulation vs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47472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474720"/>
            <a:ext cx="36576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361187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  <a:latin typeface="JetBrains Mono"/>
              </a:rPr>
              <a:t>05  Backtesting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06908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Equity curve, Sharpe ratio,
Max drawdown, trade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474720"/>
            <a:ext cx="3657600" cy="1828800"/>
          </a:xfrm>
          <a:prstGeom prst="rect">
            <a:avLst/>
          </a:prstGeom>
          <a:solidFill>
            <a:srgbClr val="070B14"/>
          </a:solidFill>
          <a:ln w="1905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3657600" cy="64008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611879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0F6FC"/>
                </a:solidFill>
                <a:latin typeface="JetBrains Mono"/>
              </a:rPr>
              <a:t>06  Paper Trading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69080"/>
            <a:ext cx="3438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Execute simulated trades,
Auto-close at 4h, P&amp;L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84F58"/>
                </a:solidFill>
                <a:latin typeface="JetBrains Mono"/>
              </a:rPr>
              <a:t>Auto-refresh · REFRESH NOW button · Pipeline status indicator · IST timestamps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37160"/>
            <a:ext cx="1737360" cy="25603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" y="173736"/>
            <a:ext cx="160934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0D1117"/>
                </a:solidFill>
                <a:latin typeface="Calibri"/>
              </a:rPr>
              <a:t>TECH STACK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F6FC"/>
                </a:solidFill>
                <a:latin typeface="Calibri"/>
              </a:rPr>
              <a:t>100% open-source · ₹0 cost · runs on 8GB 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54864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3B341"/>
                </a:solidFill>
                <a:latin typeface="JetBrains Mono"/>
              </a:rPr>
              <a:t>LLM Sentiment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79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Ollama + Mistral 7B Q4 + FinBERT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  <a:latin typeface="JetBrains Mono"/>
              </a:rPr>
              <a:t>Price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3716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Facebook Prophet +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38528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938528"/>
            <a:ext cx="54864" cy="5486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8A6FF"/>
                </a:solidFill>
                <a:latin typeface="JetBrains Mono"/>
              </a:rPr>
              <a:t>Feature Eng.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20299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27 features: technical, sentiment, on-chain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38528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38528"/>
            <a:ext cx="54864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0299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  <a:latin typeface="JetBrains Mono"/>
              </a:rPr>
              <a:t>Data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0299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Telethon, NewsAPI, Whale Alert, Binance 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96896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96896"/>
            <a:ext cx="54864" cy="54864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688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FB950"/>
                </a:solidFill>
                <a:latin typeface="JetBrains Mono"/>
              </a:rPr>
              <a:t>Signal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79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Custom 3-factor rule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596896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596896"/>
            <a:ext cx="54864" cy="54864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883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3B341"/>
                </a:solidFill>
                <a:latin typeface="JetBrains Mono"/>
              </a:rPr>
              <a:t>Backtesting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6883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Slippage + commission + Sharpe/Sortino/drawdown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55264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255264"/>
            <a:ext cx="54864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467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JetBrains Mono"/>
              </a:rPr>
              <a:t>Paper Trading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79" y="33467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Local simulation, live prices, auto-close 4h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255264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255264"/>
            <a:ext cx="54864" cy="548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3467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78BFA"/>
                </a:solidFill>
                <a:latin typeface="JetBrains Mono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33467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Streamlit + Plotly, 6 tabs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13631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913631"/>
            <a:ext cx="54864" cy="5486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00507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  <a:latin typeface="JetBrains Mono"/>
              </a:rPr>
              <a:t>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79" y="400507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SQLAlchemy ORM + SQLite (7 tables, indexed)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913631"/>
            <a:ext cx="5577840" cy="548640"/>
          </a:xfrm>
          <a:prstGeom prst="rect">
            <a:avLst/>
          </a:prstGeom>
          <a:solidFill>
            <a:srgbClr val="070B14"/>
          </a:solidFill>
          <a:ln>
            <a:solidFill>
              <a:srgbClr val="212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913631"/>
            <a:ext cx="54864" cy="5486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00507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949E"/>
                </a:solidFill>
                <a:latin typeface="JetBrains Mono"/>
              </a:rPr>
              <a:t>Resilience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40" y="400507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JetBrains Mono"/>
              </a:rPr>
              <a:t>Exponential backoff retry on all API collectors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373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117"/>
                </a:solidFill>
                <a:latin typeface="JetBrains Mono"/>
              </a:rPr>
              <a:t>Replicates Santiment / Nansen capabilities — at zero cost, running entirely on local hardware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84F58"/>
                </a:solidFill>
                <a:latin typeface="JetBrains Mono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